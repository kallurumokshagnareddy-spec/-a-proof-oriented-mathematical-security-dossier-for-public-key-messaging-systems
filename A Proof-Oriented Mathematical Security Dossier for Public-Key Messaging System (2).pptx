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</ns0:sldIdLst>
  <ns0:sldSz cx="12192000" cy="6858000" type="screen4x3"/>
  <ns0:notesSz cx="6858000" cy="9144000"/>
  <ns0:embeddedFontLst>
    <ns0:embeddedFont>
      <ns0:font typeface="JetBrains Mono"/>
      <ns0:bold ns1:id="rIdFont20"/>
      <ns0:regular ns1:id="rIdFont21"/>
    </ns0:embeddedFont>
    <ns0:embeddedFont>
      <ns0:font typeface="Space Grotesk"/>
      <ns0:bold ns1:id="rIdFont22"/>
      <ns0:regular ns1:id="rIdFont23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19" Type="http://schemas.openxmlformats.org/officeDocument/2006/relationships/slide" Target="slides/slide13.xml" /><ns0:Relationship Id="rIdFont20" Type="http://schemas.openxmlformats.org/officeDocument/2006/relationships/font" Target="fonts/c0ca7d79-8cb2-4d1b-9df6-3b5e1f5e5467.fntdata" /><ns0:Relationship Id="rIdFont21" Type="http://schemas.openxmlformats.org/officeDocument/2006/relationships/font" Target="fonts/f9a41724-f120-4d9c-89f9-f1ff4f3856d5.fntdata" /><ns0:Relationship Id="rIdFont22" Type="http://schemas.openxmlformats.org/officeDocument/2006/relationships/font" Target="fonts/7b34642c-5ddc-4a9e-ada6-a8bf2bca8c9a.fntdata" /><ns0:Relationship Id="rIdFont23" Type="http://schemas.openxmlformats.org/officeDocument/2006/relationships/font" Target="fonts/83a84212-8f89-48a1-b60f-e658839a9d01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1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Relationship Id="rId8" Type="http://schemas.openxmlformats.org/officeDocument/2006/relationships/image" Target="../media/image2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496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2000" y="1351657"/>
            <a:ext cx="4905375" cy="295275"/>
          </a:xfrm>
          <a:prstGeom prst="roundRect">
            <a:avLst>
              <a:gd name="adj" fmla="val 50000"/>
            </a:avLst>
          </a:prstGeom>
          <a:solidFill>
            <a:srgbClr val="0B557D"/>
          </a:solidFill>
          <a:ln w="9525">
            <a:solidFill>
              <a:srgbClr val="1060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62000" y="3837682"/>
            <a:ext cx="10668000" cy="1630560"/>
          </a:xfrm>
          <a:prstGeom prst="roundRect">
            <a:avLst>
              <a:gd name="adj" fmla="val 8178"/>
            </a:avLst>
          </a:prstGeom>
          <a:solidFill>
            <a:srgbClr val="0D243B"/>
          </a:solidFill>
          <a:ln w="9525">
            <a:solidFill>
              <a:srgbClr val="245F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76325" y="4075807"/>
            <a:ext cx="3595687" cy="115431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976812" y="4075807"/>
            <a:ext cx="3036093" cy="4762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662487" y="4075807"/>
            <a:ext cx="9525" cy="115431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03381" y="4075807"/>
            <a:ext cx="9525" cy="4762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875" y="1437382"/>
            <a:ext cx="142875" cy="1238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6325" y="4094857"/>
            <a:ext cx="157162" cy="1143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6812" y="4094857"/>
            <a:ext cx="119062" cy="1143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17706" y="4094857"/>
            <a:ext cx="128587" cy="1143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33475" y="1408807"/>
            <a:ext cx="4495800" cy="180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975" i="0" u="none">
                <a:solidFill>
                  <a:srgbClr val="38BDF8"/>
                </a:solidFill>
                <a:latin typeface="JetBrains Mono"/>
              </a:rPr>
              <a:t>DIGITAL SECURITY &amp; CRYPTOGRAPHY DESIGN PROJECT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1837432"/>
            <a:ext cx="9901237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b="1" sz="3000" i="0" u="none">
                <a:solidFill>
                  <a:srgbClr val="FFFFFF"/>
                </a:solidFill>
                <a:latin typeface="Space Grotesk"/>
              </a:rPr>
              <a:t>A Proof-Oriented Mathematical Security Dossier for Public-Key Messaging System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2904232"/>
            <a:ext cx="84772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94A3B8"/>
                </a:solidFill>
                <a:latin typeface="Space Grotesk"/>
              </a:rPr>
              <a:t>Formal cryptographic verification and discrete mathematical modeling for secure asynchronous end-to-end communication.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09687" y="4075807"/>
            <a:ext cx="396359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900" i="0" u="none">
                <a:solidFill>
                  <a:srgbClr val="38BDF8"/>
                </a:solidFill>
                <a:latin typeface="JetBrains Mono"/>
              </a:rPr>
              <a:t>TEAM MEMBERS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6325" y="4323457"/>
            <a:ext cx="3452812" cy="906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5"/>
              </a:lnSpc>
            </a:pPr>
            <a:r>
              <a:rPr b="0" sz="1050" i="0" u="none">
                <a:solidFill>
                  <a:srgbClr val="E2E8F0"/>
                </a:solidFill>
                <a:latin typeface="JetBrains Mono"/>
              </a:rPr>
              <a:t>2620030686 - Mokshagna</a:t>
            </a:r>
            <a:r>
              <a:t>
</a:t>
            </a:r>
            <a:r>
              <a:rPr b="0" sz="1050" i="0" u="none">
                <a:solidFill>
                  <a:srgbClr val="E2E8F0"/>
                </a:solidFill>
                <a:latin typeface="JetBrains Mono"/>
              </a:rPr>
              <a:t> 2620090144 - Sai Charan</a:t>
            </a:r>
            <a:r>
              <a:t>
</a:t>
            </a:r>
            <a:r>
              <a:rPr b="0" sz="1050" i="0" u="none">
                <a:solidFill>
                  <a:srgbClr val="E2E8F0"/>
                </a:solidFill>
                <a:latin typeface="JetBrains Mono"/>
              </a:rPr>
              <a:t> 2620030537 - Mohan</a:t>
            </a:r>
            <a:r>
              <a:t>
</a:t>
            </a:r>
            <a:r>
              <a:rPr b="0" sz="1050" i="0" u="none">
                <a:solidFill>
                  <a:srgbClr val="E2E8F0"/>
                </a:solidFill>
                <a:latin typeface="JetBrains Mono"/>
              </a:rPr>
              <a:t> 2620030507 - Sri Ram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72075" y="4075807"/>
            <a:ext cx="3302198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900" i="0" u="none">
                <a:solidFill>
                  <a:srgbClr val="38BDF8"/>
                </a:solidFill>
                <a:latin typeface="JetBrains Mono"/>
              </a:rPr>
              <a:t>PROJECT GUIDE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76812" y="4323457"/>
            <a:ext cx="349746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FFFFFF"/>
                </a:solidFill>
                <a:latin typeface="Space Grotesk"/>
              </a:rPr>
              <a:t>Dr. K S Ramana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22493" y="4075807"/>
            <a:ext cx="3292673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900" i="0" u="none">
                <a:solidFill>
                  <a:srgbClr val="38BDF8"/>
                </a:solidFill>
                <a:latin typeface="JetBrains Mono"/>
              </a:rPr>
              <a:t>SESSION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17706" y="4323457"/>
            <a:ext cx="3497460" cy="2132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CBD5E1"/>
                </a:solidFill>
                <a:latin typeface="Space Grotesk"/>
              </a:rPr>
              <a:t>CSE Dept | 2026–27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5972175"/>
            <a:ext cx="10668000" cy="3143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0" y="2630090"/>
            <a:ext cx="3378249" cy="2255043"/>
          </a:xfrm>
          <a:prstGeom prst="roundRect">
            <a:avLst>
              <a:gd name="adj" fmla="val 5913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406949" y="2740818"/>
            <a:ext cx="3378249" cy="2033587"/>
          </a:xfrm>
          <a:prstGeom prst="roundRect">
            <a:avLst>
              <a:gd name="adj" fmla="val 6557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51899" y="2740818"/>
            <a:ext cx="3378249" cy="2033587"/>
          </a:xfrm>
          <a:prstGeom prst="roundRect">
            <a:avLst>
              <a:gd name="adj" fmla="val 6557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2000" y="5972175"/>
            <a:ext cx="106680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" y="4875609"/>
            <a:ext cx="337824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2000" y="2630090"/>
            <a:ext cx="3378249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2000" y="2630090"/>
            <a:ext cx="9525" cy="2255043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30724" y="2630090"/>
            <a:ext cx="9525" cy="2255043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06949" y="4764881"/>
            <a:ext cx="337824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06949" y="2740818"/>
            <a:ext cx="3378249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06949" y="2740818"/>
            <a:ext cx="9525" cy="2033587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5674" y="2740818"/>
            <a:ext cx="9525" cy="2033587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51899" y="4764881"/>
            <a:ext cx="337824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51899" y="2740818"/>
            <a:ext cx="3378249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51899" y="2740818"/>
            <a:ext cx="9525" cy="2033587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420623" y="2740818"/>
            <a:ext cx="9525" cy="2033587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590550"/>
            <a:ext cx="157162" cy="12382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225" y="2972990"/>
            <a:ext cx="419100" cy="4191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3174" y="3083718"/>
            <a:ext cx="419100" cy="4191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8124" y="3083718"/>
            <a:ext cx="419100" cy="4191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2050" y="3087290"/>
            <a:ext cx="171450" cy="1905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83187" y="3198018"/>
            <a:ext cx="219075" cy="1905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66236" y="3198018"/>
            <a:ext cx="142875" cy="1905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95362" y="571500"/>
            <a:ext cx="11196637" cy="1619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0" sz="975" i="0" u="none">
                <a:solidFill>
                  <a:srgbClr val="38BDF8"/>
                </a:solidFill>
                <a:latin typeface="JetBrains Mono"/>
              </a:rPr>
              <a:t>BACKGROUND &amp; MOTIVATION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2000" y="809625"/>
            <a:ext cx="114300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F8FAFC"/>
                </a:solidFill>
                <a:latin typeface="Space Grotesk"/>
              </a:rPr>
              <a:t>Foundations of Secure Messaging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2000" y="1343025"/>
            <a:ext cx="11430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94A3B8"/>
                </a:solidFill>
                <a:latin typeface="Space Grotesk"/>
              </a:rPr>
              <a:t>Ensuring privacy through rigorous mathematical guarantees rather than black-box assumptions.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2000" y="6134100"/>
            <a:ext cx="183356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JetBrains Mono"/>
              </a:rPr>
              <a:t>Mokshagna (Slides 1–4)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63075" y="6134100"/>
            <a:ext cx="2583656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JetBrains Mono"/>
              </a:rPr>
              <a:t>Proof-Oriented Security Dossier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8225" y="3563540"/>
            <a:ext cx="3708861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8FAFC"/>
                </a:solidFill>
                <a:latin typeface="Space Grotesk"/>
              </a:rPr>
              <a:t>Absolute Privacy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8225" y="3906440"/>
            <a:ext cx="2921049" cy="664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0" sz="1125" i="0" u="none">
                <a:solidFill>
                  <a:srgbClr val="CBD5E1"/>
                </a:solidFill>
                <a:latin typeface="Space Grotesk"/>
              </a:rPr>
              <a:t>Rigorous mathematical guarantees ensuring confidentiality and authenticity.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83174" y="3674268"/>
            <a:ext cx="3708861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8FAFC"/>
                </a:solidFill>
                <a:latin typeface="Space Grotesk"/>
              </a:rPr>
              <a:t>Discrete Structures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83174" y="4017168"/>
            <a:ext cx="2921049" cy="442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0" sz="1125" i="0" u="none">
                <a:solidFill>
                  <a:srgbClr val="CBD5E1"/>
                </a:solidFill>
                <a:latin typeface="Space Grotesk"/>
              </a:rPr>
              <a:t>Protocols rely on number theory, set structures, and formal logic.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8124" y="3674268"/>
            <a:ext cx="3708861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8FAFC"/>
                </a:solidFill>
                <a:latin typeface="Space Grotesk"/>
              </a:rPr>
              <a:t>Formal Dossier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8124" y="4017168"/>
            <a:ext cx="2921049" cy="442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0" sz="1125" i="0" u="none">
                <a:solidFill>
                  <a:srgbClr val="CBD5E1"/>
                </a:solidFill>
                <a:latin typeface="Space Grotesk"/>
              </a:rPr>
              <a:t>Bridging applied cryptography with discrete math for provable E2EE.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5972175"/>
            <a:ext cx="10668000" cy="3143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0" y="2733675"/>
            <a:ext cx="2524125" cy="1752600"/>
          </a:xfrm>
          <a:prstGeom prst="roundRect">
            <a:avLst>
              <a:gd name="adj" fmla="val 6521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476625" y="2833687"/>
            <a:ext cx="2524125" cy="1552575"/>
          </a:xfrm>
          <a:prstGeom prst="roundRect">
            <a:avLst>
              <a:gd name="adj" fmla="val 7361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91250" y="2833687"/>
            <a:ext cx="2524125" cy="1552575"/>
          </a:xfrm>
          <a:prstGeom prst="roundRect">
            <a:avLst>
              <a:gd name="adj" fmla="val 7361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905875" y="2833687"/>
            <a:ext cx="2524125" cy="1552575"/>
          </a:xfrm>
          <a:prstGeom prst="roundRect">
            <a:avLst>
              <a:gd name="adj" fmla="val 7361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" y="5972175"/>
            <a:ext cx="106680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81075" y="3028950"/>
            <a:ext cx="752475" cy="190500"/>
          </a:xfrm>
          <a:prstGeom prst="roundRect">
            <a:avLst>
              <a:gd name="adj" fmla="val 20000"/>
            </a:avLst>
          </a:prstGeom>
          <a:solidFill>
            <a:srgbClr val="223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95700" y="3128962"/>
            <a:ext cx="752475" cy="190500"/>
          </a:xfrm>
          <a:prstGeom prst="roundRect">
            <a:avLst>
              <a:gd name="adj" fmla="val 20000"/>
            </a:avLst>
          </a:prstGeom>
          <a:solidFill>
            <a:srgbClr val="223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10325" y="3128962"/>
            <a:ext cx="752475" cy="190500"/>
          </a:xfrm>
          <a:prstGeom prst="roundRect">
            <a:avLst>
              <a:gd name="adj" fmla="val 20000"/>
            </a:avLst>
          </a:prstGeom>
          <a:solidFill>
            <a:srgbClr val="223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24950" y="3128962"/>
            <a:ext cx="752475" cy="190500"/>
          </a:xfrm>
          <a:prstGeom prst="roundRect">
            <a:avLst>
              <a:gd name="adj" fmla="val 20000"/>
            </a:avLst>
          </a:prstGeom>
          <a:solidFill>
            <a:srgbClr val="223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590550"/>
            <a:ext cx="138112" cy="12382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76312" y="571500"/>
            <a:ext cx="11215687" cy="1619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0" sz="975" i="0" u="none">
                <a:solidFill>
                  <a:srgbClr val="38BDF8"/>
                </a:solidFill>
                <a:latin typeface="JetBrains Mono"/>
              </a:rPr>
              <a:t>CORE OBJECTIVES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809625"/>
            <a:ext cx="114300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F8FAFC"/>
                </a:solidFill>
                <a:latin typeface="Space Grotesk"/>
              </a:rPr>
              <a:t>Project Architecture &amp; Goals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6134100"/>
            <a:ext cx="183356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JetBrains Mono"/>
              </a:rPr>
              <a:t>Mokshagna (Slides 1–4)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63075" y="6134100"/>
            <a:ext cx="2583656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JetBrains Mono"/>
              </a:rPr>
              <a:t>Proof-Oriented Security Dossier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7275" y="3048000"/>
            <a:ext cx="6953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38BDF8"/>
                </a:solidFill>
                <a:latin typeface="JetBrains Mono"/>
              </a:rPr>
              <a:t>PILLAR 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1075" y="3314700"/>
            <a:ext cx="273784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8FAFC"/>
                </a:solidFill>
                <a:latin typeface="Space Grotesk"/>
              </a:rPr>
              <a:t>Domain Modeling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1075" y="3609975"/>
            <a:ext cx="2181225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CBD5E1"/>
                </a:solidFill>
                <a:latin typeface="Space Grotesk"/>
              </a:rPr>
              <a:t>Define participant spaces and message domains via set theory.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71900" y="3148012"/>
            <a:ext cx="6953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38BDF8"/>
                </a:solidFill>
                <a:latin typeface="JetBrains Mono"/>
              </a:rPr>
              <a:t>PILLAR 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95700" y="3414712"/>
            <a:ext cx="273784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8FAFC"/>
                </a:solidFill>
                <a:latin typeface="Space Grotesk"/>
              </a:rPr>
              <a:t>Modular Arithmetic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95700" y="3709987"/>
            <a:ext cx="218122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CBD5E1"/>
                </a:solidFill>
                <a:latin typeface="Space Grotesk"/>
              </a:rPr>
              <a:t>Implement Euclidean algorithms for key generation.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86525" y="3148012"/>
            <a:ext cx="6953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38BDF8"/>
                </a:solidFill>
                <a:latin typeface="JetBrains Mono"/>
              </a:rPr>
              <a:t>PILLAR 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0325" y="3414712"/>
            <a:ext cx="273784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8FAFC"/>
                </a:solidFill>
                <a:latin typeface="Space Grotesk"/>
              </a:rPr>
              <a:t>Graph Networks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0325" y="3709987"/>
            <a:ext cx="218122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CBD5E1"/>
                </a:solidFill>
                <a:latin typeface="Space Grotesk"/>
              </a:rPr>
              <a:t>Model routing paths utilizing adjacency matrices.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01150" y="3148012"/>
            <a:ext cx="6953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38BDF8"/>
                </a:solidFill>
                <a:latin typeface="JetBrains Mono"/>
              </a:rPr>
              <a:t>PILLAR 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24950" y="3414712"/>
            <a:ext cx="273784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8FAFC"/>
                </a:solidFill>
                <a:latin typeface="Space Grotesk"/>
              </a:rPr>
              <a:t>Formal Logic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24950" y="3709987"/>
            <a:ext cx="218122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CBD5E1"/>
                </a:solidFill>
                <a:latin typeface="Space Grotesk"/>
              </a:rPr>
              <a:t>Validate security invariants via propositional logic.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6105525"/>
            <a:ext cx="10668000" cy="2762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0" y="1228725"/>
            <a:ext cx="5267325" cy="1485900"/>
          </a:xfrm>
          <a:prstGeom prst="roundRect">
            <a:avLst>
              <a:gd name="adj" fmla="val 641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62675" y="1228725"/>
            <a:ext cx="5267325" cy="1485900"/>
          </a:xfrm>
          <a:prstGeom prst="roundRect">
            <a:avLst>
              <a:gd name="adj" fmla="val 641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62000" y="2847975"/>
            <a:ext cx="5267325" cy="1485900"/>
          </a:xfrm>
          <a:prstGeom prst="roundRect">
            <a:avLst>
              <a:gd name="adj" fmla="val 641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62675" y="2847975"/>
            <a:ext cx="5267325" cy="1485900"/>
          </a:xfrm>
          <a:prstGeom prst="roundRect">
            <a:avLst>
              <a:gd name="adj" fmla="val 641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2000" y="4467225"/>
            <a:ext cx="5267325" cy="1485900"/>
          </a:xfrm>
          <a:prstGeom prst="roundRect">
            <a:avLst>
              <a:gd name="adj" fmla="val 641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62675" y="4467225"/>
            <a:ext cx="5267325" cy="1485900"/>
          </a:xfrm>
          <a:prstGeom prst="roundRect">
            <a:avLst>
              <a:gd name="adj" fmla="val 641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2000" y="6105525"/>
            <a:ext cx="106680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2025" y="1824037"/>
            <a:ext cx="514350" cy="295275"/>
          </a:xfrm>
          <a:prstGeom prst="roundRect">
            <a:avLst>
              <a:gd name="adj" fmla="val 19354"/>
            </a:avLst>
          </a:prstGeom>
          <a:solidFill>
            <a:srgbClr val="213B52"/>
          </a:solidFill>
          <a:ln w="9525">
            <a:solidFill>
              <a:srgbClr val="2655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62700" y="1824037"/>
            <a:ext cx="514350" cy="295275"/>
          </a:xfrm>
          <a:prstGeom prst="roundRect">
            <a:avLst>
              <a:gd name="adj" fmla="val 19354"/>
            </a:avLst>
          </a:prstGeom>
          <a:solidFill>
            <a:srgbClr val="213B52"/>
          </a:solidFill>
          <a:ln w="9525">
            <a:solidFill>
              <a:srgbClr val="2655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62025" y="3443287"/>
            <a:ext cx="514350" cy="295275"/>
          </a:xfrm>
          <a:prstGeom prst="roundRect">
            <a:avLst>
              <a:gd name="adj" fmla="val 19354"/>
            </a:avLst>
          </a:prstGeom>
          <a:solidFill>
            <a:srgbClr val="213B52"/>
          </a:solidFill>
          <a:ln w="9525">
            <a:solidFill>
              <a:srgbClr val="2655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62700" y="3443287"/>
            <a:ext cx="514350" cy="295275"/>
          </a:xfrm>
          <a:prstGeom prst="roundRect">
            <a:avLst>
              <a:gd name="adj" fmla="val 19354"/>
            </a:avLst>
          </a:prstGeom>
          <a:solidFill>
            <a:srgbClr val="213B52"/>
          </a:solidFill>
          <a:ln w="9525">
            <a:solidFill>
              <a:srgbClr val="2655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62025" y="5062537"/>
            <a:ext cx="514350" cy="295275"/>
          </a:xfrm>
          <a:prstGeom prst="roundRect">
            <a:avLst>
              <a:gd name="adj" fmla="val 19354"/>
            </a:avLst>
          </a:prstGeom>
          <a:solidFill>
            <a:srgbClr val="213B52"/>
          </a:solidFill>
          <a:ln w="9525">
            <a:solidFill>
              <a:srgbClr val="2655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62700" y="5062537"/>
            <a:ext cx="514350" cy="295275"/>
          </a:xfrm>
          <a:prstGeom prst="roundRect">
            <a:avLst>
              <a:gd name="adj" fmla="val 19354"/>
            </a:avLst>
          </a:prstGeom>
          <a:solidFill>
            <a:srgbClr val="213B52"/>
          </a:solidFill>
          <a:ln w="9525">
            <a:solidFill>
              <a:srgbClr val="2655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495300"/>
            <a:ext cx="166687" cy="12382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04887" y="476250"/>
            <a:ext cx="11187112" cy="1619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0" sz="975" i="0" u="none">
                <a:solidFill>
                  <a:srgbClr val="38BDF8"/>
                </a:solidFill>
                <a:latin typeface="JetBrains Mono"/>
              </a:rPr>
              <a:t>ACADEMIC ALIGNMENT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695325"/>
            <a:ext cx="114300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F8FAFC"/>
                </a:solidFill>
                <a:latin typeface="Space Grotesk"/>
              </a:rPr>
              <a:t>Course Outcomes Mapping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000" y="6229350"/>
            <a:ext cx="183356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JetBrains Mono"/>
              </a:rPr>
              <a:t>Mokshagna (Slides 1–4)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63075" y="6229350"/>
            <a:ext cx="2583656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JetBrains Mono"/>
              </a:rPr>
              <a:t>Proof-Oriented Security Dossier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7275" y="1881187"/>
            <a:ext cx="41910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38BDF8"/>
                </a:solidFill>
                <a:latin typeface="JetBrains Mono"/>
              </a:rPr>
              <a:t>CO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9725" y="1881187"/>
            <a:ext cx="428625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E2E8F0"/>
                </a:solidFill>
                <a:latin typeface="Space Grotesk"/>
              </a:rPr>
              <a:t>Propositions, Logical Connectives, &amp; Truth Tables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7950" y="1881187"/>
            <a:ext cx="41910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38BDF8"/>
                </a:solidFill>
                <a:latin typeface="JetBrains Mono"/>
              </a:rPr>
              <a:t>CO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10400" y="1881187"/>
            <a:ext cx="3738562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E2E8F0"/>
                </a:solidFill>
                <a:latin typeface="Space Grotesk"/>
              </a:rPr>
              <a:t>Sets, Set Operations, &amp; Cartesian Products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7275" y="3500437"/>
            <a:ext cx="41910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38BDF8"/>
                </a:solidFill>
                <a:latin typeface="JetBrains Mono"/>
              </a:rPr>
              <a:t>CO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09725" y="3500437"/>
            <a:ext cx="3357562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E2E8F0"/>
                </a:solidFill>
                <a:latin typeface="Space Grotesk"/>
              </a:rPr>
              <a:t>Counting Principles &amp; Entropy Analysis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57950" y="3500437"/>
            <a:ext cx="41910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38BDF8"/>
                </a:solidFill>
                <a:latin typeface="JetBrains Mono"/>
              </a:rPr>
              <a:t>CO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0400" y="3500437"/>
            <a:ext cx="359568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E2E8F0"/>
                </a:solidFill>
                <a:latin typeface="Space Grotesk"/>
              </a:rPr>
              <a:t>Division &amp; Extended Euclidean Algorithms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7275" y="5119687"/>
            <a:ext cx="41910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38BDF8"/>
                </a:solidFill>
                <a:latin typeface="JetBrains Mono"/>
              </a:rPr>
              <a:t>CO 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09725" y="5119687"/>
            <a:ext cx="445293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E2E8F0"/>
                </a:solidFill>
                <a:latin typeface="Space Grotesk"/>
              </a:rPr>
              <a:t>Graphs &amp; Adjacency Matrices for Routing Topology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57950" y="5119687"/>
            <a:ext cx="41910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38BDF8"/>
                </a:solidFill>
                <a:latin typeface="JetBrains Mono"/>
              </a:rPr>
              <a:t>CO 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10400" y="5119687"/>
            <a:ext cx="314325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E2E8F0"/>
                </a:solidFill>
                <a:latin typeface="Space Grotesk"/>
              </a:rPr>
              <a:t>Boolean Algebra Axioms &amp; Identities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5972175"/>
            <a:ext cx="10668000" cy="3143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83957" y="1438275"/>
            <a:ext cx="5246042" cy="4343400"/>
          </a:xfrm>
          <a:prstGeom prst="roundRect">
            <a:avLst>
              <a:gd name="adj" fmla="val 307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2000" y="5972175"/>
            <a:ext cx="106680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98282" y="3083272"/>
            <a:ext cx="461739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590550"/>
            <a:ext cx="109537" cy="1238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8282" y="2831901"/>
            <a:ext cx="152400" cy="1333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2776537"/>
            <a:ext cx="171450" cy="1809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3405187"/>
            <a:ext cx="171450" cy="1809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033837"/>
            <a:ext cx="171450" cy="1809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47737" y="571500"/>
            <a:ext cx="11244262" cy="1619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0" sz="975" i="0" u="none">
                <a:solidFill>
                  <a:srgbClr val="38BDF8"/>
                </a:solidFill>
                <a:latin typeface="JetBrains Mono"/>
              </a:rPr>
              <a:t>SYSTEM SPECIFICATIONS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809625"/>
            <a:ext cx="114300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F8FAFC"/>
                </a:solidFill>
                <a:latin typeface="Space Grotesk"/>
              </a:rPr>
              <a:t>Modular Arithmetic &amp; Key Space (CO 3, CO 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6134100"/>
            <a:ext cx="1916906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JetBrains Mono"/>
              </a:rPr>
              <a:t>Sai Charan (Slides 5–7)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63075" y="6134100"/>
            <a:ext cx="2583656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JetBrains Mono"/>
              </a:rPr>
              <a:t>Proof-Oriented Security Dossier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8282" y="2793801"/>
            <a:ext cx="5693717" cy="222795"/>
          </a:xfrm>
          <a:prstGeom prst="rect">
            <a:avLst/>
          </a:prstGeom>
          <a:noFill/>
        </p:spPr>
        <p:txBody>
          <a:bodyPr wrap="none" lIns="15240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1" sz="1050" i="0" u="none">
                <a:solidFill>
                  <a:srgbClr val="38BDF8"/>
                </a:solidFill>
                <a:latin typeface="JetBrains Mono"/>
              </a:rPr>
              <a:t>Extended Euclidean Lemma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8282" y="3207097"/>
            <a:ext cx="4712642" cy="12190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94A3B8"/>
                </a:solidFill>
                <a:latin typeface="JetBrains Mono"/>
              </a:rPr>
              <a:t>For integers a, b &gt; 0, compute (x, y) such that:</a:t>
            </a:r>
            <a:r>
              <a:t>
</a:t>
            </a:r>
            <a:r>
              <a:t>
</a:t>
            </a:r>
            <a:r>
              <a:rPr b="1" sz="1125" i="0" u="none">
                <a:solidFill>
                  <a:srgbClr val="F1F5F9"/>
                </a:solidFill>
                <a:latin typeface="JetBrains Mono"/>
              </a:rPr>
              <a:t>ax + by = gcd(a, b)</a:t>
            </a:r>
            <a:r>
              <a:t>
</a:t>
            </a:r>
            <a:r>
              <a:t>
</a:t>
            </a:r>
            <a:r>
              <a:rPr b="0" sz="975" i="0" u="none">
                <a:solidFill>
                  <a:srgbClr val="94A3B8"/>
                </a:solidFill>
                <a:latin typeface="JetBrains Mono"/>
              </a:rPr>
              <a:t> When </a:t>
            </a:r>
            <a:r>
              <a:rPr b="0" sz="975" i="0" u="none">
                <a:solidFill>
                  <a:srgbClr val="38BDF8"/>
                </a:solidFill>
                <a:latin typeface="JetBrains Mono"/>
              </a:rPr>
              <a:t>gcd(a, n) = 1</a:t>
            </a:r>
            <a:r>
              <a:rPr b="0" sz="975" i="0" u="none">
                <a:solidFill>
                  <a:srgbClr val="94A3B8"/>
                </a:solidFill>
                <a:latin typeface="JetBrains Mono"/>
              </a:rPr>
              <a:t>, x mod n yields the multiplicative modular inverse used for key pair derivation.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7750" y="2752725"/>
            <a:ext cx="488855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350" i="0" u="none">
                <a:solidFill>
                  <a:srgbClr val="F8FAFC"/>
                </a:solidFill>
                <a:latin typeface="Space Grotesk"/>
              </a:rPr>
              <a:t>Euclidean Algorithm:</a:t>
            </a:r>
            <a:r>
              <a:rPr b="1" sz="1350" i="0" u="none">
                <a:solidFill>
                  <a:srgbClr val="38BDF8"/>
                </a:solidFill>
                <a:latin typeface="Space Grotesk"/>
              </a:rPr>
              <a:t> Computes GCD ensuring unique prime-order group parameters.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7750" y="3381375"/>
            <a:ext cx="488855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350" i="0" u="none">
                <a:solidFill>
                  <a:srgbClr val="F8FAFC"/>
                </a:solidFill>
                <a:latin typeface="Space Grotesk"/>
              </a:rPr>
              <a:t>Extended Euclidean:</a:t>
            </a:r>
            <a:r>
              <a:rPr b="1" sz="1350" i="0" u="none">
                <a:solidFill>
                  <a:srgbClr val="38BDF8"/>
                </a:solidFill>
                <a:latin typeface="Space Grotesk"/>
              </a:rPr>
              <a:t> Solves Diophantine equations for modular multiplicative inverses.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7750" y="4010025"/>
            <a:ext cx="488855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350" i="0" u="none">
                <a:solidFill>
                  <a:srgbClr val="F8FAFC"/>
                </a:solidFill>
                <a:latin typeface="Space Grotesk"/>
              </a:rPr>
              <a:t>Counting Principles:</a:t>
            </a:r>
            <a:r>
              <a:rPr b="1" sz="1350" i="0" u="none">
                <a:solidFill>
                  <a:srgbClr val="38BDF8"/>
                </a:solidFill>
                <a:latin typeface="Space Grotesk"/>
              </a:rPr>
              <a:t> Establishes entropy bounds against exhaustive attacks.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5972175"/>
            <a:ext cx="10668000" cy="3143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83957" y="1438275"/>
            <a:ext cx="5246042" cy="4343400"/>
          </a:xfrm>
          <a:prstGeom prst="roundRect">
            <a:avLst>
              <a:gd name="adj" fmla="val 307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2000" y="5972175"/>
            <a:ext cx="106680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98282" y="3197572"/>
            <a:ext cx="461739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590550"/>
            <a:ext cx="157162" cy="1238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8282" y="2946201"/>
            <a:ext cx="133350" cy="1333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2776537"/>
            <a:ext cx="171450" cy="1809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3405187"/>
            <a:ext cx="171450" cy="1809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033837"/>
            <a:ext cx="171450" cy="1809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95362" y="571500"/>
            <a:ext cx="11196637" cy="1619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0" sz="975" i="0" u="none">
                <a:solidFill>
                  <a:srgbClr val="38BDF8"/>
                </a:solidFill>
                <a:latin typeface="JetBrains Mono"/>
              </a:rPr>
              <a:t>NETWORK TOPOLOGY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809625"/>
            <a:ext cx="114300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F8FAFC"/>
                </a:solidFill>
                <a:latin typeface="Space Grotesk"/>
              </a:rPr>
              <a:t>Messaging Graph Models (CO 5)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6134100"/>
            <a:ext cx="1916906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JetBrains Mono"/>
              </a:rPr>
              <a:t>Sai Charan (Slides 5–7)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63075" y="6134100"/>
            <a:ext cx="2583656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JetBrains Mono"/>
              </a:rPr>
              <a:t>Proof-Oriented Security Dossier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8282" y="2908101"/>
            <a:ext cx="5693717" cy="222795"/>
          </a:xfrm>
          <a:prstGeom prst="rect">
            <a:avLst/>
          </a:prstGeom>
          <a:noFill/>
        </p:spPr>
        <p:txBody>
          <a:bodyPr wrap="none" lIns="13335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1" sz="1050" i="0" u="none">
                <a:solidFill>
                  <a:srgbClr val="38BDF8"/>
                </a:solidFill>
                <a:latin typeface="JetBrains Mono"/>
              </a:rPr>
              <a:t>Matrix Topology Formula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8282" y="3321397"/>
            <a:ext cx="4712642" cy="990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JetBrains Mono"/>
              </a:rPr>
              <a:t>Let network graph be </a:t>
            </a:r>
            <a:r>
              <a:rPr b="1" sz="975" i="0" u="none">
                <a:solidFill>
                  <a:srgbClr val="F8FAFC"/>
                </a:solidFill>
                <a:latin typeface="JetBrains Mono"/>
              </a:rPr>
              <a:t>G = (V, E)</a:t>
            </a:r>
            <a:r>
              <a:rPr b="0" sz="975" i="0" u="none">
                <a:solidFill>
                  <a:srgbClr val="CBD5E1"/>
                </a:solidFill>
                <a:latin typeface="JetBrains Mono"/>
              </a:rPr>
              <a:t>.</a:t>
            </a:r>
            <a:r>
              <a:t>
</a:t>
            </a:r>
            <a:r>
              <a:t>
</a:t>
            </a:r>
            <a:r>
              <a:rPr b="0" sz="975" i="0" u="none">
                <a:solidFill>
                  <a:srgbClr val="CBD5E1"/>
                </a:solidFill>
                <a:latin typeface="JetBrains Mono"/>
              </a:rPr>
              <a:t> Adjacency matrix entry </a:t>
            </a:r>
            <a:r>
              <a:rPr b="1" sz="975" i="0" u="none">
                <a:solidFill>
                  <a:srgbClr val="38BDF8"/>
                </a:solidFill>
                <a:latin typeface="JetBrains Mono"/>
              </a:rPr>
              <a:t>A_ij = 1</a:t>
            </a:r>
            <a:r>
              <a:rPr b="0" sz="975" i="0" u="none">
                <a:solidFill>
                  <a:srgbClr val="CBD5E1"/>
                </a:solidFill>
                <a:latin typeface="JetBrains Mono"/>
              </a:rPr>
              <a:t> denotes an active, authenticated cryptographic tunnel between participant </a:t>
            </a:r>
            <a:r>
              <a:rPr b="0" sz="975" i="0" u="none">
                <a:solidFill>
                  <a:srgbClr val="F8FAFC"/>
                </a:solidFill>
                <a:latin typeface="JetBrains Mono"/>
              </a:rPr>
              <a:t>i</a:t>
            </a:r>
            <a:r>
              <a:rPr b="0" sz="975" i="0" u="none">
                <a:solidFill>
                  <a:srgbClr val="CBD5E1"/>
                </a:solidFill>
                <a:latin typeface="JetBrains Mono"/>
              </a:rPr>
              <a:t> and participant </a:t>
            </a:r>
            <a:r>
              <a:rPr b="0" sz="975" i="0" u="none">
                <a:solidFill>
                  <a:srgbClr val="F8FAFC"/>
                </a:solidFill>
                <a:latin typeface="JetBrains Mono"/>
              </a:rPr>
              <a:t>j</a:t>
            </a:r>
            <a:r>
              <a:rPr b="0" sz="975" i="0" u="none">
                <a:solidFill>
                  <a:srgbClr val="CBD5E1"/>
                </a:solidFill>
                <a:latin typeface="JetBrains Mono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7750" y="2752725"/>
            <a:ext cx="488855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350" i="0" u="none">
                <a:solidFill>
                  <a:srgbClr val="F8FAFC"/>
                </a:solidFill>
                <a:latin typeface="Space Grotesk"/>
              </a:rPr>
              <a:t>Graph Representation:</a:t>
            </a:r>
            <a:r>
              <a:rPr b="1" sz="1350" i="0" u="none">
                <a:solidFill>
                  <a:srgbClr val="38BDF8"/>
                </a:solidFill>
                <a:latin typeface="Space Grotesk"/>
              </a:rPr>
              <a:t> Vertices V represent participants; directed edges E model secure channels.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7750" y="3381375"/>
            <a:ext cx="488855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350" i="0" u="none">
                <a:solidFill>
                  <a:srgbClr val="F8FAFC"/>
                </a:solidFill>
                <a:latin typeface="Space Grotesk"/>
              </a:rPr>
              <a:t>Adjacency Matrices:</a:t>
            </a:r>
            <a:r>
              <a:rPr b="1" sz="1350" i="0" u="none">
                <a:solidFill>
                  <a:srgbClr val="38BDF8"/>
                </a:solidFill>
                <a:latin typeface="Space Grotesk"/>
              </a:rPr>
              <a:t> Entries track active session states and authorized routing paths.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7750" y="4010025"/>
            <a:ext cx="488855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350" i="0" u="none">
                <a:solidFill>
                  <a:srgbClr val="F8FAFC"/>
                </a:solidFill>
                <a:latin typeface="Space Grotesk"/>
              </a:rPr>
              <a:t>Decentralized Handshake:</a:t>
            </a:r>
            <a:r>
              <a:rPr b="1" sz="1350" i="0" u="none">
                <a:solidFill>
                  <a:srgbClr val="38BDF8"/>
                </a:solidFill>
                <a:latin typeface="Space Grotesk"/>
              </a:rPr>
              <a:t> Dynamically updates edges during key exchange without central authorities.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5972175"/>
            <a:ext cx="10668000" cy="3143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0" y="2795587"/>
            <a:ext cx="3378249" cy="1628775"/>
          </a:xfrm>
          <a:prstGeom prst="roundRect">
            <a:avLst>
              <a:gd name="adj" fmla="val 8187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406949" y="2795587"/>
            <a:ext cx="3378249" cy="1628775"/>
          </a:xfrm>
          <a:prstGeom prst="roundRect">
            <a:avLst>
              <a:gd name="adj" fmla="val 8187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51899" y="2795587"/>
            <a:ext cx="3378249" cy="1628775"/>
          </a:xfrm>
          <a:prstGeom prst="roundRect">
            <a:avLst>
              <a:gd name="adj" fmla="val 8187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2000" y="5972175"/>
            <a:ext cx="106680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" y="4414837"/>
            <a:ext cx="337824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2000" y="2795587"/>
            <a:ext cx="3378249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2000" y="2795587"/>
            <a:ext cx="9525" cy="162877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30724" y="2795587"/>
            <a:ext cx="9525" cy="162877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06949" y="4414837"/>
            <a:ext cx="337824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06949" y="2795587"/>
            <a:ext cx="3378249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06949" y="2795587"/>
            <a:ext cx="9525" cy="162877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5674" y="2795587"/>
            <a:ext cx="9525" cy="162877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51899" y="4414837"/>
            <a:ext cx="337824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51899" y="2795587"/>
            <a:ext cx="3378249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51899" y="2795587"/>
            <a:ext cx="9525" cy="162877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420623" y="2795587"/>
            <a:ext cx="9525" cy="162877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590550"/>
            <a:ext cx="166687" cy="12382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004887" y="571500"/>
            <a:ext cx="11187112" cy="1619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0" sz="975" i="0" u="none">
                <a:solidFill>
                  <a:srgbClr val="38BDF8"/>
                </a:solidFill>
                <a:latin typeface="JetBrains Mono"/>
              </a:rPr>
              <a:t>OPERATIONAL MECHANICS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000" y="809625"/>
            <a:ext cx="114300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F8FAFC"/>
                </a:solidFill>
                <a:latin typeface="Space Grotesk"/>
              </a:rPr>
              <a:t>Sets &amp; Boolean Algebra (CO 2, CO 6)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2000" y="6134100"/>
            <a:ext cx="1916906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JetBrains Mono"/>
              </a:rPr>
              <a:t>Sai Charan (Slides 5–7)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63075" y="6134100"/>
            <a:ext cx="2583656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JetBrains Mono"/>
              </a:rPr>
              <a:t>Proof-Oriented Security Dossier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8225" y="3138487"/>
            <a:ext cx="3532249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38BDF8"/>
                </a:solidFill>
                <a:latin typeface="JetBrains Mono"/>
              </a:rPr>
              <a:t>CO 2: DOMAINS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8225" y="3367087"/>
            <a:ext cx="370886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8FAFC"/>
                </a:solidFill>
                <a:latin typeface="Space Grotesk"/>
              </a:rPr>
              <a:t>Cartesian Products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8225" y="3681412"/>
            <a:ext cx="2921049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CBD5E1"/>
                </a:solidFill>
                <a:latin typeface="Space Grotesk"/>
              </a:rPr>
              <a:t>Identity registries defined via set unions and product spaces.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83174" y="3138487"/>
            <a:ext cx="3532249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38BDF8"/>
                </a:solidFill>
                <a:latin typeface="JetBrains Mono"/>
              </a:rPr>
              <a:t>CO 6: LOGIC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83174" y="3367087"/>
            <a:ext cx="370886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8FAFC"/>
                </a:solidFill>
                <a:latin typeface="Space Grotesk"/>
              </a:rPr>
              <a:t>Boolean Identities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83174" y="3681412"/>
            <a:ext cx="2921049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CBD5E1"/>
                </a:solidFill>
                <a:latin typeface="Space Grotesk"/>
              </a:rPr>
              <a:t>Governs access control and state machine transitions.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8124" y="3138487"/>
            <a:ext cx="3532249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38BDF8"/>
                </a:solidFill>
                <a:latin typeface="JetBrains Mono"/>
              </a:rPr>
              <a:t>SECURITY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8124" y="3367087"/>
            <a:ext cx="370886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8FAFC"/>
                </a:solidFill>
                <a:latin typeface="Space Grotesk"/>
              </a:rPr>
              <a:t>Forward Secrecy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8124" y="3681412"/>
            <a:ext cx="2921049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CBD5E1"/>
                </a:solidFill>
                <a:latin typeface="Space Grotesk"/>
              </a:rPr>
              <a:t>Double Ratchet: historic keys wiped immediately post-decryption.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5972175"/>
            <a:ext cx="10668000" cy="3143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0" y="2809875"/>
            <a:ext cx="3378249" cy="1600200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406949" y="2809875"/>
            <a:ext cx="3378249" cy="1600200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51899" y="2809875"/>
            <a:ext cx="3378249" cy="1600200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2000" y="5972175"/>
            <a:ext cx="106680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590550"/>
            <a:ext cx="138112" cy="1238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76312" y="571500"/>
            <a:ext cx="11215687" cy="1619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0" sz="975" i="0" u="none">
                <a:solidFill>
                  <a:srgbClr val="38BDF8"/>
                </a:solidFill>
                <a:latin typeface="JetBrains Mono"/>
              </a:rPr>
              <a:t>FORMAL VERIFICATION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809625"/>
            <a:ext cx="114300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F8FAFC"/>
                </a:solidFill>
                <a:latin typeface="Space Grotesk"/>
              </a:rPr>
              <a:t>Propositional Logic &amp; Truth Tables (CO 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134100"/>
            <a:ext cx="1750218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JetBrains Mono"/>
              </a:rPr>
              <a:t>Sri Ram (Slides 8–10)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63075" y="6134100"/>
            <a:ext cx="2583656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JetBrains Mono"/>
              </a:rPr>
              <a:t>Proof-Oriented Security Dossier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8225" y="3124200"/>
            <a:ext cx="3532249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38BDF8"/>
                </a:solidFill>
                <a:latin typeface="JetBrains Mono"/>
              </a:rPr>
              <a:t>PROPOSITIONS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8225" y="3352800"/>
            <a:ext cx="370886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8FAFC"/>
                </a:solidFill>
                <a:latin typeface="Space Grotesk"/>
              </a:rPr>
              <a:t>Logical Connectives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8225" y="3667125"/>
            <a:ext cx="2921049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CBD5E1"/>
                </a:solidFill>
                <a:latin typeface="Space Grotesk"/>
              </a:rPr>
              <a:t>Formal proposition modeling under active adversary conditions.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83174" y="3124200"/>
            <a:ext cx="3532249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38BDF8"/>
                </a:solidFill>
                <a:latin typeface="JetBrains Mono"/>
              </a:rPr>
              <a:t>TRUTH TABLES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3174" y="3352800"/>
            <a:ext cx="370886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8FAFC"/>
                </a:solidFill>
                <a:latin typeface="Space Grotesk"/>
              </a:rPr>
              <a:t>Invariant Validation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3174" y="3667125"/>
            <a:ext cx="2921049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CBD5E1"/>
                </a:solidFill>
                <a:latin typeface="Space Grotesk"/>
              </a:rPr>
              <a:t>Proving compromised session keys never breach past or future secrecy.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8124" y="3124200"/>
            <a:ext cx="3532249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38BDF8"/>
                </a:solidFill>
                <a:latin typeface="JetBrains Mono"/>
              </a:rPr>
              <a:t>INTEGRITY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8124" y="3352800"/>
            <a:ext cx="370886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8FAFC"/>
                </a:solidFill>
                <a:latin typeface="Space Grotesk"/>
              </a:rPr>
              <a:t>Authenticity Proofs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8124" y="3667125"/>
            <a:ext cx="2921049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CBD5E1"/>
                </a:solidFill>
                <a:latin typeface="Space Grotesk"/>
              </a:rPr>
              <a:t>Demonstrating message tampering invalidates check equations.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5972175"/>
            <a:ext cx="10668000" cy="3143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0" y="2636043"/>
            <a:ext cx="3378249" cy="1947862"/>
          </a:xfrm>
          <a:prstGeom prst="roundRect">
            <a:avLst>
              <a:gd name="adj" fmla="val 6845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406949" y="2636043"/>
            <a:ext cx="3378249" cy="1947862"/>
          </a:xfrm>
          <a:prstGeom prst="roundRect">
            <a:avLst>
              <a:gd name="adj" fmla="val 6845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51899" y="2636043"/>
            <a:ext cx="3378249" cy="1947862"/>
          </a:xfrm>
          <a:prstGeom prst="roundRect">
            <a:avLst>
              <a:gd name="adj" fmla="val 6845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2000" y="5972175"/>
            <a:ext cx="106680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590550"/>
            <a:ext cx="109537" cy="1238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225" y="2950368"/>
            <a:ext cx="381000" cy="381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3174" y="2950368"/>
            <a:ext cx="381000" cy="3810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8124" y="2950368"/>
            <a:ext cx="381000" cy="3810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3000" y="3055143"/>
            <a:ext cx="171450" cy="1714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4137" y="3055143"/>
            <a:ext cx="219075" cy="1714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42424" y="3055143"/>
            <a:ext cx="152400" cy="1714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47737" y="571500"/>
            <a:ext cx="11244262" cy="1619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0" sz="975" i="0" u="none">
                <a:solidFill>
                  <a:srgbClr val="38BDF8"/>
                </a:solidFill>
                <a:latin typeface="JetBrains Mono"/>
              </a:rPr>
              <a:t>ADVANTAGES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809625"/>
            <a:ext cx="114300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F8FAFC"/>
                </a:solidFill>
                <a:latin typeface="Space Grotesk"/>
              </a:rPr>
              <a:t>System Strengths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6134100"/>
            <a:ext cx="1750218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JetBrains Mono"/>
              </a:rPr>
              <a:t>Sri Ram (Slides 8–10)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63075" y="6134100"/>
            <a:ext cx="2583656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JetBrains Mono"/>
              </a:rPr>
              <a:t>Proof-Oriented Security Dossier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225" y="3483768"/>
            <a:ext cx="3708861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8FAFC"/>
                </a:solidFill>
                <a:latin typeface="Space Grotesk"/>
              </a:rPr>
              <a:t>Mathematical Rigor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8225" y="3826668"/>
            <a:ext cx="2921049" cy="442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0" sz="1125" i="0" u="none">
                <a:solidFill>
                  <a:srgbClr val="CBD5E1"/>
                </a:solidFill>
                <a:latin typeface="Space Grotesk"/>
              </a:rPr>
              <a:t>Security claims backed by formal number theory and logic proofs.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83174" y="3483768"/>
            <a:ext cx="3708861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8FAFC"/>
                </a:solidFill>
                <a:latin typeface="Space Grotesk"/>
              </a:rPr>
              <a:t>Scalable Topology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83174" y="3826668"/>
            <a:ext cx="2921049" cy="442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0" sz="1125" i="0" u="none">
                <a:solidFill>
                  <a:srgbClr val="CBD5E1"/>
                </a:solidFill>
                <a:latin typeface="Space Grotesk"/>
              </a:rPr>
              <a:t>Efficient graph representation enables rapid path resolution.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8124" y="3483768"/>
            <a:ext cx="3708861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8FAFC"/>
                </a:solidFill>
                <a:latin typeface="Space Grotesk"/>
              </a:rPr>
              <a:t>Deterministic Checks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8124" y="3826668"/>
            <a:ext cx="2921049" cy="442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0" sz="1125" i="0" u="none">
                <a:solidFill>
                  <a:srgbClr val="CBD5E1"/>
                </a:solidFill>
                <a:latin typeface="Space Grotesk"/>
              </a:rPr>
              <a:t>Propositional logic models support automated verification.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5972175"/>
            <a:ext cx="10668000" cy="3143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0" y="2792015"/>
            <a:ext cx="3378249" cy="1635918"/>
          </a:xfrm>
          <a:prstGeom prst="roundRect">
            <a:avLst>
              <a:gd name="adj" fmla="val 8151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406949" y="2902743"/>
            <a:ext cx="3378249" cy="1414462"/>
          </a:xfrm>
          <a:prstGeom prst="roundRect">
            <a:avLst>
              <a:gd name="adj" fmla="val 9427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51899" y="2902743"/>
            <a:ext cx="3378249" cy="1414462"/>
          </a:xfrm>
          <a:prstGeom prst="roundRect">
            <a:avLst>
              <a:gd name="adj" fmla="val 9427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2000" y="5972175"/>
            <a:ext cx="106680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590550"/>
            <a:ext cx="166687" cy="1238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04887" y="571500"/>
            <a:ext cx="11187112" cy="1619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0" sz="975" i="0" u="none">
                <a:solidFill>
                  <a:srgbClr val="38BDF8"/>
                </a:solidFill>
                <a:latin typeface="JetBrains Mono"/>
              </a:rPr>
              <a:t>TRADE-OFFS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809625"/>
            <a:ext cx="114300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F8FAFC"/>
                </a:solidFill>
                <a:latin typeface="Space Grotesk"/>
              </a:rPr>
              <a:t>Design Constraints &amp; Limitations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134100"/>
            <a:ext cx="1750218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JetBrains Mono"/>
              </a:rPr>
              <a:t>Sri Ram (Slides 8–10)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63075" y="6134100"/>
            <a:ext cx="2583656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JetBrains Mono"/>
              </a:rPr>
              <a:t>Proof-Oriented Security Dossier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8225" y="3106340"/>
            <a:ext cx="3708861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8FAFC"/>
                </a:solidFill>
                <a:latin typeface="Space Grotesk"/>
              </a:rPr>
              <a:t>Setup Overhead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8225" y="3449240"/>
            <a:ext cx="2921049" cy="664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0" sz="1125" i="0" u="none">
                <a:solidFill>
                  <a:srgbClr val="CBD5E1"/>
                </a:solidFill>
                <a:latin typeface="Space Grotesk"/>
              </a:rPr>
              <a:t>Modular inversions introduce minor computational latency during key setup.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3174" y="3217068"/>
            <a:ext cx="3708861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8FAFC"/>
                </a:solidFill>
                <a:latin typeface="Space Grotesk"/>
              </a:rPr>
              <a:t>Matrix Scaling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83174" y="3559968"/>
            <a:ext cx="2921049" cy="442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0" sz="1125" i="0" u="none">
                <a:solidFill>
                  <a:srgbClr val="CBD5E1"/>
                </a:solidFill>
                <a:latin typeface="Space Grotesk"/>
              </a:rPr>
              <a:t>Dense adjacency matrices scale quadratically with participant growth.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8124" y="3217068"/>
            <a:ext cx="3708861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8FAFC"/>
                </a:solidFill>
                <a:latin typeface="Space Grotesk"/>
              </a:rPr>
              <a:t>Synchronization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8124" y="3559968"/>
            <a:ext cx="2921049" cy="442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0" sz="1125" i="0" u="none">
                <a:solidFill>
                  <a:srgbClr val="CBD5E1"/>
                </a:solidFill>
                <a:latin typeface="Space Grotesk"/>
              </a:rPr>
              <a:t>Packet loss requires robust state synchronization across graph nodes.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5972175"/>
            <a:ext cx="10668000" cy="3143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0" y="2792015"/>
            <a:ext cx="3378249" cy="1635918"/>
          </a:xfrm>
          <a:prstGeom prst="roundRect">
            <a:avLst>
              <a:gd name="adj" fmla="val 8151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406949" y="2902743"/>
            <a:ext cx="3378249" cy="1414462"/>
          </a:xfrm>
          <a:prstGeom prst="roundRect">
            <a:avLst>
              <a:gd name="adj" fmla="val 9427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51899" y="2902743"/>
            <a:ext cx="3378249" cy="1414462"/>
          </a:xfrm>
          <a:prstGeom prst="roundRect">
            <a:avLst>
              <a:gd name="adj" fmla="val 9427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2000" y="5972175"/>
            <a:ext cx="106680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590550"/>
            <a:ext cx="138112" cy="1238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76312" y="571500"/>
            <a:ext cx="11215687" cy="1619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0" sz="975" i="0" u="none">
                <a:solidFill>
                  <a:srgbClr val="38BDF8"/>
                </a:solidFill>
                <a:latin typeface="JetBrains Mono"/>
              </a:rPr>
              <a:t>FUTURE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809625"/>
            <a:ext cx="114300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F8FAFC"/>
                </a:solidFill>
                <a:latin typeface="Space Grotesk"/>
              </a:rPr>
              <a:t>Horizon &amp; Extensions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134100"/>
            <a:ext cx="166687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JetBrains Mono"/>
              </a:rPr>
              <a:t>Mohan (Slides 11–13)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63075" y="6134100"/>
            <a:ext cx="2583656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JetBrains Mono"/>
              </a:rPr>
              <a:t>Proof-Oriented Security Dossier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8225" y="3106340"/>
            <a:ext cx="3708861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8FAFC"/>
                </a:solidFill>
                <a:latin typeface="Space Grotesk"/>
              </a:rPr>
              <a:t>Post-Quantum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8225" y="3449240"/>
            <a:ext cx="2921049" cy="664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0" sz="1125" i="0" u="none">
                <a:solidFill>
                  <a:srgbClr val="CBD5E1"/>
                </a:solidFill>
                <a:latin typeface="Space Grotesk"/>
              </a:rPr>
              <a:t>Transitioning group structures to lattice-based post-quantum cryptography.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3174" y="3217068"/>
            <a:ext cx="3708861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8FAFC"/>
                </a:solidFill>
                <a:latin typeface="Space Grotesk"/>
              </a:rPr>
              <a:t>Sparse Matrix Scaling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83174" y="3559968"/>
            <a:ext cx="2921049" cy="442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0" sz="1125" i="0" u="none">
                <a:solidFill>
                  <a:srgbClr val="CBD5E1"/>
                </a:solidFill>
                <a:latin typeface="Space Grotesk"/>
              </a:rPr>
              <a:t>Dynamic sparse graph data structures for high-throughput networks.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8124" y="3217068"/>
            <a:ext cx="3708861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8FAFC"/>
                </a:solidFill>
                <a:latin typeface="Space Grotesk"/>
              </a:rPr>
              <a:t>Automated Provers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8124" y="3559968"/>
            <a:ext cx="2921049" cy="442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0" sz="1125" i="0" u="none">
                <a:solidFill>
                  <a:srgbClr val="CBD5E1"/>
                </a:solidFill>
                <a:latin typeface="Space Grotesk"/>
              </a:rPr>
              <a:t>Integration with automated verifiers like ProVerif and Tamarin.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5972175"/>
            <a:ext cx="10668000" cy="3143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0" y="2645568"/>
            <a:ext cx="10668000" cy="1928812"/>
          </a:xfrm>
          <a:prstGeom prst="roundRect">
            <a:avLst>
              <a:gd name="adj" fmla="val 6913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2000" y="5972175"/>
            <a:ext cx="106680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143125" y="3688556"/>
            <a:ext cx="8896350" cy="533400"/>
          </a:xfrm>
          <a:prstGeom prst="roundRect">
            <a:avLst>
              <a:gd name="adj" fmla="val 14285"/>
            </a:avLst>
          </a:prstGeom>
          <a:solidFill>
            <a:srgbClr val="21384E"/>
          </a:solidFill>
          <a:ln w="9525">
            <a:solidFill>
              <a:srgbClr val="2655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590550"/>
            <a:ext cx="157162" cy="1238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525" y="3267075"/>
            <a:ext cx="685800" cy="6858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9212" y="3429000"/>
            <a:ext cx="352425" cy="3619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95362" y="571500"/>
            <a:ext cx="11196637" cy="1619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0" sz="975" i="0" u="none">
                <a:solidFill>
                  <a:srgbClr val="38BDF8"/>
                </a:solidFill>
                <a:latin typeface="JetBrains Mono"/>
              </a:rPr>
              <a:t>OPEN SOURCE &amp; ARTIFACTS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809625"/>
            <a:ext cx="114300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F8FAFC"/>
                </a:solidFill>
                <a:latin typeface="Space Grotesk"/>
              </a:rPr>
              <a:t>Project Repository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6134100"/>
            <a:ext cx="166687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JetBrains Mono"/>
              </a:rPr>
              <a:t>Mohan (Slides 11–13)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63075" y="6134100"/>
            <a:ext cx="2583656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JetBrains Mono"/>
              </a:rPr>
              <a:t>Proof-Oriented Security Dossier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3125" y="2997993"/>
            <a:ext cx="1004887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F8FAFC"/>
                </a:solidFill>
                <a:latin typeface="Space Grotesk"/>
              </a:rPr>
              <a:t>GitHub Source Code &amp; Dossier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43125" y="3340893"/>
            <a:ext cx="10048875" cy="214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CBD5E1"/>
                </a:solidFill>
                <a:latin typeface="Space Grotesk"/>
              </a:rPr>
              <a:t>Access mathematical security proofs, simulation scripts, and full structural documentation.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95525" y="3783806"/>
            <a:ext cx="86868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38BDF8"/>
                </a:solidFill>
                <a:latin typeface="JetBrains Mono"/>
              </a:rPr>
              <a:t>https://github.com/kallurumokshagnareddy-spec/-A-Proof-Oriented-Mathematical-Security-Dossier-for-Public-Key-Messaging-Systems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3B5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2000" y="2078384"/>
            <a:ext cx="2409825" cy="295275"/>
          </a:xfrm>
          <a:prstGeom prst="roundRect">
            <a:avLst>
              <a:gd name="adj" fmla="val 50000"/>
            </a:avLst>
          </a:prstGeom>
          <a:solidFill>
            <a:srgbClr val="0B486C"/>
          </a:solidFill>
          <a:ln w="9525">
            <a:solidFill>
              <a:srgbClr val="1055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62000" y="4141440"/>
            <a:ext cx="10668000" cy="600075"/>
          </a:xfrm>
          <a:prstGeom prst="roundRect">
            <a:avLst>
              <a:gd name="adj" fmla="val 19047"/>
            </a:avLst>
          </a:prstGeom>
          <a:solidFill>
            <a:srgbClr val="124564"/>
          </a:solidFill>
          <a:ln w="9525">
            <a:solidFill>
              <a:srgbClr val="1F4F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875" y="2164109"/>
            <a:ext cx="123825" cy="1238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9725" y="4374802"/>
            <a:ext cx="171450" cy="1333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14425" y="2135534"/>
            <a:ext cx="2019300" cy="180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975" i="0" u="none">
                <a:solidFill>
                  <a:srgbClr val="38BDF8"/>
                </a:solidFill>
                <a:latin typeface="JetBrains Mono"/>
              </a:rPr>
              <a:t>SUMMARY &amp; CONCLUSION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2564159"/>
            <a:ext cx="11251406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b="1" sz="3000" i="0" u="none">
                <a:solidFill>
                  <a:srgbClr val="FFFFFF"/>
                </a:solidFill>
                <a:latin typeface="Space Grotesk"/>
              </a:rPr>
              <a:t>Mathematical Security Dossier Established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3211859"/>
            <a:ext cx="819150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94A3B8"/>
                </a:solidFill>
                <a:latin typeface="Space Grotesk"/>
              </a:rPr>
              <a:t>Successfully unified core discrete mathematics principles—Euclidean algorithms, graph topology, and propositional logic—into a provably secure asynchronous messaging system.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8225" y="4341465"/>
            <a:ext cx="33337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E2E8F0"/>
                </a:solidFill>
                <a:latin typeface="Space Grotesk"/>
              </a:rPr>
              <a:t>Thank you for your time &amp; attention.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77375" y="4355752"/>
            <a:ext cx="2157412" cy="171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0" sz="1050" i="0" u="none">
                <a:solidFill>
                  <a:srgbClr val="38BDF8"/>
                </a:solidFill>
                <a:latin typeface="JetBrains Mono"/>
              </a:rP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